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8229600" cy="8229600"/>
          </a:xfrm>
          <a:prstGeom prst="ellipse">
            <a:avLst/>
          </a:prstGeom>
          <a:solidFill>
            <a:srgbClr val="00D655">
              <a:alpha val="12000"/>
            </a:srgbClr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3200400"/>
            <a:ext cx="6400800" cy="6400800"/>
          </a:xfrm>
          <a:prstGeom prst="ellipse">
            <a:avLst/>
          </a:prstGeom>
          <a:solidFill>
            <a:srgbClr val="6C6C6C">
              <a:alpha val="20000"/>
            </a:srgbClr>
          </a:solidFill>
          <a:ln w="12700">
            <a:solidFill>
              <a:srgbClr val="6C6C6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00D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DESKTOP · OPEN SOURCE · MIT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0" cy="54864"/>
          </a:xfrm>
          <a:prstGeom prst="rect">
            <a:avLst/>
          </a:prstGeom>
          <a:solidFill>
            <a:srgbClr val="00D655"/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1097280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0" b="1" kern="0" spc="-200" dirty="0">
                <a:solidFill>
                  <a:srgbClr val="F0F0F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Alaude</a:t>
            </a:r>
            <a:endParaRPr lang="en-US" sz="132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让每个人都能用上 AI agent — </a:t>
            </a:r>
            <a:r>
              <a:rPr lang="zh-CN" altLang="en-US" sz="24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人民</a:t>
            </a:r>
            <a:r>
              <a:rPr lang="zh-CN" altLang="en-US" sz="24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</a:t>
            </a:r>
            <a:endParaRPr lang="zh-CN" altLang="en-US" sz="2400" dirty="0">
              <a:solidFill>
                <a:srgbClr val="F0F0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AI agent experience — for everyone, on the desktop.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93776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D65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40080" y="56692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0" y="493776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D65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7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383280" y="56692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26480" y="493776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D65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100%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126480" y="56692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TELEMETRY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69680" y="4937760"/>
            <a:ext cx="2377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D65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MIT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8869680" y="56692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6263640"/>
            <a:ext cx="10881360" cy="1828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Al-Sayadi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2026-04-18  ·  Electron 33  ·  Node 18+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2743200"/>
            <a:ext cx="9144000" cy="9144000"/>
          </a:xfrm>
          <a:prstGeom prst="ellipse">
            <a:avLst/>
          </a:prstGeom>
          <a:solidFill>
            <a:srgbClr val="00D655">
              <a:alpha val="8000"/>
            </a:srgbClr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48640"/>
            <a:ext cx="548640" cy="73152"/>
          </a:xfrm>
          <a:prstGeom prst="rect">
            <a:avLst/>
          </a:prstGeom>
          <a:solidFill>
            <a:srgbClr val="00D655"/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D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0F0F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我们要做的事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12471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0F0F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让 </a:t>
            </a:r>
            <a:r>
              <a:rPr lang="en-US" sz="4400" b="1" dirty="0">
                <a:solidFill>
                  <a:srgbClr val="00D65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每个人</a:t>
            </a:r>
            <a:r>
              <a:rPr lang="en-US" sz="4400" b="1" dirty="0">
                <a:solidFill>
                  <a:srgbClr val="F0F0F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 都能在桌面上,享受到</a:t>
            </a:r>
            <a:r>
              <a:rPr lang="en-US" sz="4400" b="1" dirty="0">
                <a:solidFill>
                  <a:srgbClr val="00D655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 最好的 AI agent 体验</a:t>
            </a:r>
            <a:r>
              <a:rPr lang="en-US" sz="4400" b="1" dirty="0">
                <a:solidFill>
                  <a:srgbClr val="F0F0F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。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3657600" cy="237744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023360"/>
            <a:ext cx="3657600" cy="73152"/>
          </a:xfrm>
          <a:prstGeom prst="rect">
            <a:avLst/>
          </a:prstGeom>
          <a:solidFill>
            <a:srgbClr val="00D655"/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2519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D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EVERYONE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61772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0F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不只是程序员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5212080"/>
            <a:ext cx="32004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健康、金融、法律、地产、教育、营销 — 同一个聊天框,七个不同领域的大脑。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4023360"/>
            <a:ext cx="3657600" cy="237744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4023360"/>
            <a:ext cx="3657600" cy="73152"/>
          </a:xfrm>
          <a:prstGeom prst="rect">
            <a:avLst/>
          </a:prstGeom>
          <a:solidFill>
            <a:srgbClr val="00A846"/>
          </a:solidFill>
          <a:ln w="12700">
            <a:solidFill>
              <a:srgbClr val="00A8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42519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A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THE DESKTOP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461772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0F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桌面原生,不是又一个标签页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26280" y="5212080"/>
            <a:ext cx="32004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能直接读你的文件、跑命令、装本地模型、保存到 Finder — 浏览器做不到的事它都能做。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4023360"/>
            <a:ext cx="3657600" cy="237744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4023360"/>
            <a:ext cx="3657600" cy="73152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42519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7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AGENT-GRADE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461772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0F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真的 agent,不是 chat 套壳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1040" y="5212080"/>
            <a:ext cx="32004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工具循环 + 多 provider + 流式工具反馈 + 自观察。你看到它思考、调用、纠错。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ALAUDE · v0.2.66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548640" cy="73152"/>
          </a:xfrm>
          <a:prstGeom prst="rect">
            <a:avLst/>
          </a:prstGeom>
          <a:solidFill>
            <a:srgbClr val="00D655"/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A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议程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我们要聊什么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从一次源码泄露,到一个 MIT 桌面应用 — 这条路上学到了什么。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611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ED1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606040"/>
            <a:ext cx="73152" cy="1554480"/>
          </a:xfrm>
          <a:prstGeom prst="rect">
            <a:avLst/>
          </a:prstGeom>
          <a:solidFill>
            <a:srgbClr val="00D655"/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889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背景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CLI 泄露事件 — 它揭示了什么,没揭示什么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2606040"/>
            <a:ext cx="3611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ED1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06240" y="2606040"/>
            <a:ext cx="73152" cy="1554480"/>
          </a:xfrm>
          <a:prstGeom prst="rect">
            <a:avLst/>
          </a:prstGeom>
          <a:solidFill>
            <a:srgbClr val="00D655"/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7889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310896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Alaude 是什么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80560" y="356616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它是什么,不是什么 — 与 CLI 的清晰区分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2606040"/>
            <a:ext cx="3611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ED1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55280" y="2606040"/>
            <a:ext cx="73152" cy="1554480"/>
          </a:xfrm>
          <a:prstGeom prst="rect">
            <a:avLst/>
          </a:prstGeom>
          <a:solidFill>
            <a:srgbClr val="00D655"/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27889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310896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三进程架构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29600" y="356616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 · Main · Worker — 每一层的关注点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389120"/>
            <a:ext cx="3611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ED1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389120"/>
            <a:ext cx="73152" cy="1554480"/>
          </a:xfrm>
          <a:prstGeom prst="rect">
            <a:avLst/>
          </a:prstGeom>
          <a:solidFill>
            <a:srgbClr val="00D655"/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5720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89204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数据流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1520" y="534924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一条消息从用户到模型再回来,经过哪些进程和协议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06240" y="4389120"/>
            <a:ext cx="3611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ED1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06240" y="4389120"/>
            <a:ext cx="73152" cy="1554480"/>
          </a:xfrm>
          <a:prstGeom prst="rect">
            <a:avLst/>
          </a:prstGeom>
          <a:solidFill>
            <a:srgbClr val="00D655"/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45720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80560" y="489204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核心特性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480560" y="534924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· 本地模型 · 工具调用 · OODA 自观察循环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955280" y="4389120"/>
            <a:ext cx="3611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ED1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955280" y="4389120"/>
            <a:ext cx="73152" cy="1554480"/>
          </a:xfrm>
          <a:prstGeom prst="rect">
            <a:avLst/>
          </a:prstGeom>
          <a:solidFill>
            <a:srgbClr val="00D655"/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45720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D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0" y="489204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演示 + 路线图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229600" y="534924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现场跑一遍,看下一步要做什么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ALAUDE · v0.2.66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548640" cy="73152"/>
          </a:xfrm>
          <a:prstGeom prst="rect">
            <a:avLst/>
          </a:prstGeom>
          <a:solidFill>
            <a:srgbClr val="00D655"/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D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背景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F0F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Claude Code CLI 的 “泄露” 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社区把 npm 上的 minified Node bundle 反编译,公开了源码。不是安全漏洞 — 是工程透明化。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5486400" cy="352044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697480"/>
            <a:ext cx="73152" cy="3520440"/>
          </a:xfrm>
          <a:prstGeom prst="rect">
            <a:avLst/>
          </a:prstGeom>
          <a:solidFill>
            <a:srgbClr val="00D655"/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260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0F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揭示了什么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493776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用的系统提示 (system prompts)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 schema:Read, Edit, Write, Bash, Grep, Glob, TodoWrite, Agent…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核心循环:plan → tool call → observe → repeat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Sub-agents、hooks、skills 是怎么接的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697480"/>
            <a:ext cx="5486400" cy="352044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2697480"/>
            <a:ext cx="73152" cy="3520440"/>
          </a:xfrm>
          <a:prstGeom prst="rect">
            <a:avLst/>
          </a:prstGeom>
          <a:solidFill>
            <a:srgbClr val="00A846"/>
          </a:solidFill>
          <a:ln w="12700">
            <a:solidFill>
              <a:srgbClr val="00A8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9260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F0F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没有揭示什么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3383280"/>
            <a:ext cx="493776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模型权重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服务端路由逻辑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的基础设施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516636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0D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结论:CLI 的 “魔法” = 一个好的工具循环 + 好的提示词。仅此而已。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ALAUDE · v0.2.66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548640" cy="73152"/>
          </a:xfrm>
          <a:prstGeom prst="rect">
            <a:avLst/>
          </a:prstGeom>
          <a:solidFill>
            <a:srgbClr val="00D655"/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A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定位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Claude Code (CLI)  vs  Alaude (桌面)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是给程序员的 CLI。Alaude 是给所有人的桌面应用 — 程序员模式只是其中一种。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57200" y="2468880"/>
          <a:ext cx="11247120" cy="3364992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6400800"/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CLI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Alaude Desktop</a:t>
                      </a:r>
                      <a:endParaRPr lang="en-US" sz="12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D65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界面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终端 REPL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 窗口 + 完整聊天 UI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仅 Anthropic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家:Anthropic / OpenAI / Google / xAI / Moonshot / Qwen / GLM / Ollama …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6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目标用户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仓库里的开发者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所有人 — 健康、金融、法律、地产、教育、营销、通用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个性化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 + skills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Spaces — 领域调优的系统提示 + 快捷动作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6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本地推理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原生 Ollama 集成 (Qwen 3 / Gemma 3 / Llama / DeepSeek R1)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可观测性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 (客户端)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OODA 循环 — 本地健康分 + 自动诊断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6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闭源 / minified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 / 源码可读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T="91440" marB="9144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5989320"/>
            <a:ext cx="73152" cy="502920"/>
          </a:xfrm>
          <a:prstGeom prst="rect">
            <a:avLst/>
          </a:prstGeom>
          <a:solidFill>
            <a:srgbClr val="00D655"/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8932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一句话:Claude Code 是给程序员的 CLI。Alaude 是给所有人的桌面 — 程序员模式只是其中之一。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ALAUDE · v0.2.66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548640" cy="73152"/>
          </a:xfrm>
          <a:prstGeom prst="rect">
            <a:avLst/>
          </a:prstGeom>
          <a:solidFill>
            <a:srgbClr val="00D655"/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D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架构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F0F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三进程,三层关注点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自带 Renderer + Main(出于安全分进程)。Alaude 在它之上又加了 API Worker — 隔离崩溃 + 不卡 UI。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3703320" cy="402336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514600"/>
            <a:ext cx="3703320" cy="109728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4320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0F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Renderer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renderer/index.html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352044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kern="0" spc="200" dirty="0">
                <a:solidFill>
                  <a:srgbClr val="A8A8A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用户界面层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9319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能做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420624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DOM、CSS、Web API、用户输入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48920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A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不做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516636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读文件、调系统命令、访问凭证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56235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7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为什么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589788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沙箱隔离 — 即使页面被 XSS,也碰不到你硬盘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617220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12,981 LOC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79392" y="2514600"/>
            <a:ext cx="3703320" cy="402336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79392" y="2514600"/>
            <a:ext cx="3703320" cy="109728"/>
          </a:xfrm>
          <a:prstGeom prst="rect">
            <a:avLst/>
          </a:prstGeom>
          <a:solidFill>
            <a:srgbClr val="00A846"/>
          </a:solidFill>
          <a:ln w="12700">
            <a:solidFill>
              <a:srgbClr val="00A8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7992" y="274320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0F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Main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507992" y="320040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electron/main.js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07992" y="352044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kern="0" spc="200" dirty="0">
                <a:solidFill>
                  <a:srgbClr val="A8A8A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特权网关层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07992" y="39319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能做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07992" y="420624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fs、child_process、窗口、菜单、OAuth、凭证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07992" y="48920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A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不做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07992" y="516636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(不该跑长任务)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07992" y="56235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A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为什么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07992" y="589788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所有特权操作的看门人 — IPC 是唯一入口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07992" y="617220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1,282 LOC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01584" y="2514600"/>
            <a:ext cx="3703320" cy="402336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01584" y="2514600"/>
            <a:ext cx="3703320" cy="109728"/>
          </a:xfrm>
          <a:prstGeom prst="rect">
            <a:avLst/>
          </a:prstGeom>
          <a:solidFill>
            <a:srgbClr val="00D655"/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30184" y="274320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0F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API Worker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8330184" y="320040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electron/api-worker.js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30184" y="352044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kern="0" spc="200" dirty="0">
                <a:solidFill>
                  <a:srgbClr val="A8A8A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脏活进程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30184" y="39319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能做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330184" y="4206240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对接 LLM、流式 token、执行工具、长任务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330184" y="48920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A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不做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330184" y="5166360"/>
            <a:ext cx="3246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直接操作 UI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330184" y="562356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为什么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330184" y="589788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崩了能重启,Main 不被拖累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330184" y="617220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2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715 LOC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ALAUDE · v0.2.66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548640" cy="73152"/>
          </a:xfrm>
          <a:prstGeom prst="rect">
            <a:avLst/>
          </a:prstGeom>
          <a:solidFill>
            <a:srgbClr val="00D655"/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A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数据流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1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一条消息的一生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从你按下回车,到第一个 token 蹦出来 — 跨三个进程、两种协议。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26060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A33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514600"/>
            <a:ext cx="2606040" cy="73152"/>
          </a:xfrm>
          <a:prstGeom prst="rect">
            <a:avLst/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9748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Renderer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window.alaude.chat()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288036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33832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Electron IPC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2514600"/>
            <a:ext cx="26060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46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2514600"/>
            <a:ext cx="2606040" cy="73152"/>
          </a:xfrm>
          <a:prstGeom prst="rect">
            <a:avLst/>
          </a:prstGeom>
          <a:solidFill>
            <a:srgbClr val="00A846"/>
          </a:solidFill>
          <a:ln w="12700">
            <a:solidFill>
              <a:srgbClr val="00A8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69748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Main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315468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ipcMain.handle('chat')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288036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0" y="33832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stdio JSON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2514600"/>
            <a:ext cx="26060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D655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2514600"/>
            <a:ext cx="2606040" cy="73152"/>
          </a:xfrm>
          <a:prstGeom prst="rect">
            <a:avLst/>
          </a:prstGeom>
          <a:solidFill>
            <a:srgbClr val="00D655"/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69748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Worker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9360" y="315468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fetch(api.openai.com)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0" y="288036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21040" y="338328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961120" y="2514600"/>
            <a:ext cx="260604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61120" y="2514600"/>
            <a:ext cx="2606040" cy="7315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0" y="269748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LLM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0" y="3154680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 tokens →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251960"/>
            <a:ext cx="55778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ED1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251960"/>
            <a:ext cx="5577840" cy="384048"/>
          </a:xfrm>
          <a:prstGeom prst="rect">
            <a:avLst/>
          </a:prstGeom>
          <a:solidFill>
            <a:srgbClr val="00D655"/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251960"/>
            <a:ext cx="5212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两种协议,各管各的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4754880"/>
            <a:ext cx="521208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 ↔ Main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Electron IPC + contextBridge — 沙箱安全的白名单 RPC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↔ Worker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stdio + JSON Lines — 每条带 id,单管道复用多请求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↔ LLM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HTTPS / SSE / WebSocket — 不同 provider 各自的协议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4251960"/>
            <a:ext cx="5577840" cy="2148840"/>
          </a:xfrm>
          <a:prstGeom prst="rect">
            <a:avLst/>
          </a:prstGeom>
          <a:solidFill>
            <a:srgbClr val="1E1E20"/>
          </a:solidFill>
          <a:ln w="12700">
            <a:solidFill>
              <a:srgbClr val="1A1A1A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0" y="4251960"/>
            <a:ext cx="5577840" cy="384048"/>
          </a:xfrm>
          <a:prstGeom prst="rect">
            <a:avLst/>
          </a:prstGeom>
          <a:solidFill>
            <a:srgbClr val="00A846"/>
          </a:solidFill>
          <a:ln w="12700">
            <a:solidFill>
              <a:srgbClr val="00A8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4251960"/>
            <a:ext cx="5212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stdio 协议示例 (Main → Worker → Main)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00800" y="4754880"/>
            <a:ext cx="521208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{ id:42, kind:'chat', model:'sonnet-4-6',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space:'health', messages:[…]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{ id:42, activity:{ phase:'tool_start',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name:'write_file' }}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{ id:42, activity:{ phase:'token',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text:'Sure, here ' }}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{ id:42, result:{ content:'…', usage:{…} }}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ALAUDE · v0.2.66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548640" cy="73152"/>
          </a:xfrm>
          <a:prstGeom prst="rect">
            <a:avLst/>
          </a:prstGeom>
          <a:solidFill>
            <a:srgbClr val="00D655"/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D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杀手特性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F0F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Spaces — 一个聊天框,七个大脑(</a:t>
            </a:r>
            <a:r>
              <a:rPr lang="en-US" sz="3600" b="1" dirty="0">
                <a:solidFill>
                  <a:srgbClr val="F0F0F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todo)</a:t>
            </a:r>
            <a:endParaRPr lang="en-US" sz="3600" b="1" dirty="0">
              <a:solidFill>
                <a:srgbClr val="F0F0F0"/>
              </a:solidFill>
              <a:latin typeface="Georgia" panose="02040502050405090303" pitchFamily="34" charset="0"/>
              <a:ea typeface="Georgia" panose="02040502050405090303" pitchFamily="34" charset="-122"/>
              <a:cs typeface="Georgia" panose="02040502050405090303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Space = 调优的系统提示 + 快捷按钮 + 占位文案。同一个模型,完全不同的人格。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269748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606040"/>
            <a:ext cx="73152" cy="1371600"/>
          </a:xfrm>
          <a:prstGeom prst="rect">
            <a:avLst/>
          </a:prstGeom>
          <a:solidFill>
            <a:srgbClr val="A8A8A8"/>
          </a:solidFill>
          <a:ln w="12700">
            <a:solidFill>
              <a:srgbClr val="A8A8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7063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0F0F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通用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日常对话、写作、问答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9272" y="2606040"/>
            <a:ext cx="269748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9272" y="2606040"/>
            <a:ext cx="73152" cy="1371600"/>
          </a:xfrm>
          <a:prstGeom prst="rect">
            <a:avLst/>
          </a:prstGeom>
          <a:solidFill>
            <a:srgbClr val="00D655"/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277063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0F0F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健康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547872" y="320040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实验室结果、药物相互作用、PHQ-9 / GAD-7、BMI / BMR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2606040"/>
            <a:ext cx="269748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2606040"/>
            <a:ext cx="73152" cy="1371600"/>
          </a:xfrm>
          <a:prstGeom prst="rect">
            <a:avLst/>
          </a:prstGeom>
          <a:solidFill>
            <a:srgbClr val="B89B5E"/>
          </a:solidFill>
          <a:ln w="12700">
            <a:solidFill>
              <a:srgbClr val="B89B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277063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0F0F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金融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09944" y="320040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预算、发票、损益表、现金流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43416" y="2606040"/>
            <a:ext cx="269748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43416" y="2606040"/>
            <a:ext cx="73152" cy="1371600"/>
          </a:xfrm>
          <a:prstGeom prst="rect">
            <a:avLst/>
          </a:prstGeom>
          <a:solidFill>
            <a:srgbClr val="7A8FA8"/>
          </a:solidFill>
          <a:ln w="12700">
            <a:solidFill>
              <a:srgbClr val="7A8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72016" y="2770632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0F0F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地产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272016" y="320040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测算、MLS 数据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88236" y="4142232"/>
            <a:ext cx="269748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88236" y="4142232"/>
            <a:ext cx="73152" cy="1371600"/>
          </a:xfrm>
          <a:prstGeom prst="rect">
            <a:avLst/>
          </a:prstGeom>
          <a:solidFill>
            <a:srgbClr val="8A6B6B"/>
          </a:solidFill>
          <a:ln w="12700">
            <a:solidFill>
              <a:srgbClr val="8A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16836" y="4306824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0F0F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法律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2116836" y="4736592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NDA、合同审查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0308" y="4142232"/>
            <a:ext cx="269748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0308" y="4142232"/>
            <a:ext cx="73152" cy="1371600"/>
          </a:xfrm>
          <a:prstGeom prst="rect">
            <a:avLst/>
          </a:prstGeom>
          <a:solidFill>
            <a:srgbClr val="8A7AA8"/>
          </a:solidFill>
          <a:ln w="12700">
            <a:solidFill>
              <a:srgbClr val="8A7A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78908" y="4306824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0F0F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教育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4978908" y="4736592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教案设计、测验题生成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12380" y="4142232"/>
            <a:ext cx="269748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12380" y="4142232"/>
            <a:ext cx="73152" cy="1371600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40980" y="4306824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0F0F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营销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7840980" y="4736592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社交文案、SEO、广告 copy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solidFill>
            <a:srgbClr val="00D655">
              <a:alpha val="15000"/>
            </a:srgbClr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59436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迭代成本几乎为零:加 Space = 写一段 prompt + 几个按钮。无需新模型、无需新代码。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ALAUDE · v0.2.66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48640"/>
            <a:ext cx="548640" cy="73152"/>
          </a:xfrm>
          <a:prstGeom prst="rect">
            <a:avLst/>
          </a:prstGeom>
          <a:solidFill>
            <a:srgbClr val="00D655"/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A8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本地 + 工具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本地模型与工具调用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敏感数据不出机器,工具调用范围 = 用户选的文件夹。两条原则,一条都不让步。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55778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ED1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468880"/>
            <a:ext cx="73152" cy="3931920"/>
          </a:xfrm>
          <a:prstGeom prst="rect">
            <a:avLst/>
          </a:prstGeom>
          <a:solidFill>
            <a:srgbClr val="00D655"/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9748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基于</a:t>
            </a:r>
            <a:r>
              <a:rPr lang="en-US" altLang="zh-CN" sz="2200" b="1" dirty="0">
                <a:solidFill>
                  <a:srgbClr val="1A1A1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 </a:t>
            </a:r>
            <a:r>
              <a:rPr lang="en-US" sz="2200" b="1" dirty="0">
                <a:solidFill>
                  <a:srgbClr val="1A1A1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Ollama 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5120640" cy="2377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应用内目录:Qwen 3 · Gemma 3 (E2B/E4B/26B/31B) · Llama 3.2/3.3 · DeepSeek R1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一键下载,带进度条 + 取消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已装模型与云模型在同一个下拉框里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工具调用按模型能力自动开关 — 太小的模型 (gemma3:1b 等) 关掉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5715000"/>
            <a:ext cx="5029200" cy="594360"/>
          </a:xfrm>
          <a:prstGeom prst="rect">
            <a:avLst/>
          </a:prstGeom>
          <a:solidFill>
            <a:srgbClr val="F0EAD8"/>
          </a:solidFill>
          <a:ln w="12700">
            <a:solidFill>
              <a:srgbClr val="E0D8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715000"/>
            <a:ext cx="4846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场景:健康数据、合同、财务表 — 不该出机器的就不出。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2468880"/>
            <a:ext cx="55778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ED1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2468880"/>
            <a:ext cx="73152" cy="3931920"/>
          </a:xfrm>
          <a:prstGeom prst="rect">
            <a:avLst/>
          </a:prstGeom>
          <a:solidFill>
            <a:srgbClr val="00D655"/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69748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六个工具,够用就好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92240" y="3337560"/>
            <a:ext cx="2468880" cy="411480"/>
          </a:xfrm>
          <a:prstGeom prst="rect">
            <a:avLst/>
          </a:prstGeom>
          <a:solidFill>
            <a:srgbClr val="EBFAEF"/>
          </a:solidFill>
          <a:ln w="12700">
            <a:solidFill>
              <a:srgbClr val="00A8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333756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read_file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98280" y="3337560"/>
            <a:ext cx="2468880" cy="411480"/>
          </a:xfrm>
          <a:prstGeom prst="rect">
            <a:avLst/>
          </a:prstGeom>
          <a:solidFill>
            <a:srgbClr val="EBFAEF"/>
          </a:solidFill>
          <a:ln w="12700">
            <a:solidFill>
              <a:srgbClr val="00A8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333756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write_file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3840480"/>
            <a:ext cx="2468880" cy="411480"/>
          </a:xfrm>
          <a:prstGeom prst="rect">
            <a:avLst/>
          </a:prstGeom>
          <a:solidFill>
            <a:srgbClr val="EBFAEF"/>
          </a:solidFill>
          <a:ln w="12700">
            <a:solidFill>
              <a:srgbClr val="00A8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384048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list_directory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98280" y="3840480"/>
            <a:ext cx="2468880" cy="411480"/>
          </a:xfrm>
          <a:prstGeom prst="rect">
            <a:avLst/>
          </a:prstGeom>
          <a:solidFill>
            <a:srgbClr val="EBFAEF"/>
          </a:solidFill>
          <a:ln w="12700">
            <a:solidFill>
              <a:srgbClr val="00A8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384048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run_command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4343400"/>
            <a:ext cx="2468880" cy="411480"/>
          </a:xfrm>
          <a:prstGeom prst="rect">
            <a:avLst/>
          </a:prstGeom>
          <a:solidFill>
            <a:srgbClr val="EBFAEF"/>
          </a:solidFill>
          <a:ln w="12700">
            <a:solidFill>
              <a:srgbClr val="00A8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43434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open_in_browser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98280" y="4343400"/>
            <a:ext cx="2468880" cy="411480"/>
          </a:xfrm>
          <a:prstGeom prst="rect">
            <a:avLst/>
          </a:prstGeom>
          <a:solidFill>
            <a:srgbClr val="EBFAEF"/>
          </a:solidFill>
          <a:ln w="12700">
            <a:solidFill>
              <a:srgbClr val="00A8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35440" y="4343400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start_dev_server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516636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活动日志 = 实时绿色脉冲 chip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5486400"/>
            <a:ext cx="51206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write_file · src/game.py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0D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run_command · python /tmp/game.py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完成时变灰     ✗ 失败变红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ALAUDE · v0.2.66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828800"/>
            <a:ext cx="7315200" cy="7315200"/>
          </a:xfrm>
          <a:prstGeom prst="ellipse">
            <a:avLst/>
          </a:prstGeom>
          <a:solidFill>
            <a:srgbClr val="00D655">
              <a:alpha val="8000"/>
            </a:srgbClr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48640"/>
            <a:ext cx="548640" cy="73152"/>
          </a:xfrm>
          <a:prstGeom prst="rect">
            <a:avLst/>
          </a:prstGeom>
          <a:solidFill>
            <a:srgbClr val="00D655"/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0D6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收尾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F0F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OODA · 路线图 · 一句话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657600" cy="301752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94560"/>
            <a:ext cx="3657600" cy="502920"/>
          </a:xfrm>
          <a:prstGeom prst="rect">
            <a:avLst/>
          </a:prstGeom>
          <a:solidFill>
            <a:srgbClr val="00D655"/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9456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◉  OODA — 应用观察自己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3200400" cy="214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→ events.ndjson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 → 每 10 outcome 算统计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→ 6 条规则,1 个提案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→ 写到 ux-proposals.md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迭代发现真 bug:abandon 37% → 12%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51960" y="2194560"/>
            <a:ext cx="3657600" cy="301752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51960" y="2194560"/>
            <a:ext cx="3657600" cy="502920"/>
          </a:xfrm>
          <a:prstGeom prst="rect">
            <a:avLst/>
          </a:prstGeom>
          <a:solidFill>
            <a:srgbClr val="00A846"/>
          </a:solidFill>
          <a:ln w="12700">
            <a:solidFill>
              <a:srgbClr val="00A8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19456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→  路线图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2880360"/>
            <a:ext cx="3200400" cy="214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流式输出 (per-token delta)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定时 Prompt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支持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签名 + 公证的 macOS 安装包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Linux 发布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2194560"/>
            <a:ext cx="3657600" cy="3017520"/>
          </a:xfrm>
          <a:prstGeom prst="rect">
            <a:avLst/>
          </a:prstGeom>
          <a:solidFill>
            <a:srgbClr val="2424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2194560"/>
            <a:ext cx="365760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2194560"/>
            <a:ext cx="3200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★  TL;DR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21040" y="2880360"/>
            <a:ext cx="3200400" cy="2148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Alaude 把这教训搬到桌面 — 让所有人都能用上 AI agent 最好的体验。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MIT,完全离线可跑,凭证和 telemetry 永远不离开机器。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00D655"/>
          </a:solidFill>
          <a:ln w="12700">
            <a:solidFill>
              <a:srgbClr val="00D6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48640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有问题吗?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486400" y="5486400"/>
            <a:ext cx="6217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github.com/alsayadi/alaude-desktop  ·  MIT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A8A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ALAUDE · v0.2.66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3844</Words>
  <Application>WPS Presentation</Application>
  <PresentationFormat>On-screen Show (16:9)</PresentationFormat>
  <Paragraphs>428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0" baseType="lpstr">
      <vt:lpstr>Arial</vt:lpstr>
      <vt:lpstr>SimSun</vt:lpstr>
      <vt:lpstr>Wingdings</vt:lpstr>
      <vt:lpstr>Consolas</vt:lpstr>
      <vt:lpstr>苹方-简</vt:lpstr>
      <vt:lpstr>Consolas</vt:lpstr>
      <vt:lpstr>Consolas</vt:lpstr>
      <vt:lpstr>Georgia</vt:lpstr>
      <vt:lpstr>Georgia</vt:lpstr>
      <vt:lpstr>Georgia</vt:lpstr>
      <vt:lpstr>Calibri</vt:lpstr>
      <vt:lpstr>Calibri</vt:lpstr>
      <vt:lpstr>Calibri</vt:lpstr>
      <vt:lpstr>汉仪书宋二KW</vt:lpstr>
      <vt:lpstr>Helvetica Neue</vt:lpstr>
      <vt:lpstr>SimSun</vt:lpstr>
      <vt:lpstr>Microsoft YaHei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Alaude — 桌面 AI 助手</dc:title>
  <dc:creator>Ahmed Al-Sayadi</dc:creator>
  <dc:subject>PptxGenJS Presentation</dc:subject>
  <cp:lastModifiedBy>Ahmed Alsayadi</cp:lastModifiedBy>
  <cp:revision>3</cp:revision>
  <dcterms:created xsi:type="dcterms:W3CDTF">2026-04-18T06:49:42Z</dcterms:created>
  <dcterms:modified xsi:type="dcterms:W3CDTF">2026-04-18T06:49:42Z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1033-12.1.24031.24031</vt:lpwstr>
  </property>
  <property fmtid="{D5CDD505-2E9C-101B-9397-08002B2CF9AE}" pid="3" name="ICV">
    <vt:lpwstr>2079151E585065B97F1CE369A3899AAB_42</vt:lpwstr>
  </property>
</Properties>
</file>