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0"/>
            <a:ext cx="0" cy="6858000"/>
          </a:xfrm>
          <a:prstGeom prst="line">
            <a:avLst/>
          </a:prstGeom>
          <a:noFill/>
          <a:ln w="6350">
            <a:solidFill>
              <a:srgbClr val="1E29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828800" y="0"/>
            <a:ext cx="0" cy="6858000"/>
          </a:xfrm>
          <a:prstGeom prst="line">
            <a:avLst/>
          </a:prstGeom>
          <a:noFill/>
          <a:ln w="6350">
            <a:solidFill>
              <a:srgbClr val="1E293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0" y="0"/>
            <a:ext cx="0" cy="6858000"/>
          </a:xfrm>
          <a:prstGeom prst="line">
            <a:avLst/>
          </a:prstGeom>
          <a:noFill/>
          <a:ln w="6350">
            <a:solidFill>
              <a:srgbClr val="1E293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0" y="0"/>
            <a:ext cx="0" cy="6858000"/>
          </a:xfrm>
          <a:prstGeom prst="line">
            <a:avLst/>
          </a:prstGeom>
          <a:noFill/>
          <a:ln w="6350">
            <a:solidFill>
              <a:srgbClr val="1E293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0" y="0"/>
            <a:ext cx="0" cy="6858000"/>
          </a:xfrm>
          <a:prstGeom prst="line">
            <a:avLst/>
          </a:prstGeom>
          <a:noFill/>
          <a:ln w="6350">
            <a:solidFill>
              <a:srgbClr val="1E293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0" y="0"/>
            <a:ext cx="0" cy="6858000"/>
          </a:xfrm>
          <a:prstGeom prst="line">
            <a:avLst/>
          </a:prstGeom>
          <a:noFill/>
          <a:ln w="6350">
            <a:solidFill>
              <a:srgbClr val="1E293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0" y="0"/>
            <a:ext cx="0" cy="6858000"/>
          </a:xfrm>
          <a:prstGeom prst="line">
            <a:avLst/>
          </a:prstGeom>
          <a:noFill/>
          <a:ln w="6350">
            <a:solidFill>
              <a:srgbClr val="1E293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0" y="0"/>
            <a:ext cx="0" cy="6858000"/>
          </a:xfrm>
          <a:prstGeom prst="line">
            <a:avLst/>
          </a:prstGeom>
          <a:noFill/>
          <a:ln w="6350">
            <a:solidFill>
              <a:srgbClr val="1E293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0" y="0"/>
            <a:ext cx="0" cy="6858000"/>
          </a:xfrm>
          <a:prstGeom prst="line">
            <a:avLst/>
          </a:prstGeom>
          <a:noFill/>
          <a:ln w="6350">
            <a:solidFill>
              <a:srgbClr val="1E293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144000" y="0"/>
            <a:ext cx="0" cy="6858000"/>
          </a:xfrm>
          <a:prstGeom prst="line">
            <a:avLst/>
          </a:prstGeom>
          <a:noFill/>
          <a:ln w="6350">
            <a:solidFill>
              <a:srgbClr val="1E293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058400" y="0"/>
            <a:ext cx="0" cy="6858000"/>
          </a:xfrm>
          <a:prstGeom prst="line">
            <a:avLst/>
          </a:prstGeom>
          <a:noFill/>
          <a:ln w="6350">
            <a:solidFill>
              <a:srgbClr val="1E293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31520" y="2286000"/>
            <a:ext cx="73152" cy="228600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4" name="Text 12"/>
          <p:cNvSpPr/>
          <p:nvPr/>
        </p:nvSpPr>
        <p:spPr>
          <a:xfrm>
            <a:off x="1005840" y="219456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spc="400" kern="0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HARNESS</a:t>
            </a:r>
            <a:endParaRPr lang="en-US" sz="7200" dirty="0"/>
          </a:p>
        </p:txBody>
      </p:sp>
      <p:sp>
        <p:nvSpPr>
          <p:cNvPr id="15" name="Text 13"/>
          <p:cNvSpPr/>
          <p:nvPr/>
        </p:nvSpPr>
        <p:spPr>
          <a:xfrm>
            <a:off x="1005840" y="310896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spc="400" kern="0" dirty="0">
                <a:solidFill>
                  <a:srgbClr val="14B8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ENGINEERING</a:t>
            </a:r>
            <a:endParaRPr lang="en-US" sz="7200" dirty="0"/>
          </a:p>
        </p:txBody>
      </p:sp>
      <p:sp>
        <p:nvSpPr>
          <p:cNvPr id="16" name="Text 14"/>
          <p:cNvSpPr/>
          <p:nvPr/>
        </p:nvSpPr>
        <p:spPr>
          <a:xfrm>
            <a:off x="1005840" y="42519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让 LLM 真正能干活的脚手架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005840" y="47548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alaude-desktop · 一个 Electron 桌面 AI 应用的四条实战经验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31520" y="61264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模型是引擎 · Harness 是底盘、传动、仪表、安全带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31520" y="5989320"/>
            <a:ext cx="365760" cy="36576"/>
          </a:xfrm>
          <a:prstGeom prst="rect">
            <a:avLst/>
          </a:prstGeom>
          <a:solidFill>
            <a:srgbClr val="14B8A6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什么是 Harness Engineering?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模型是引擎,但一辆车不是只有引擎就能开。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80848" y="1737360"/>
            <a:ext cx="32918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80848" y="1737360"/>
            <a:ext cx="73152" cy="1188720"/>
          </a:xfrm>
          <a:prstGeom prst="rect">
            <a:avLst/>
          </a:prstGeom>
          <a:solidFill>
            <a:srgbClr val="94A3B8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5168" y="201168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03808" y="19202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LLM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1203808" y="233172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模型权重 · 推理能力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3672688" y="1737360"/>
            <a:ext cx="777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4B8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</a:t>
            </a:r>
            <a:endParaRPr lang="en-US" sz="3600" dirty="0"/>
          </a:p>
        </p:txBody>
      </p:sp>
      <p:sp>
        <p:nvSpPr>
          <p:cNvPr id="10" name="Shape 7"/>
          <p:cNvSpPr/>
          <p:nvPr/>
        </p:nvSpPr>
        <p:spPr>
          <a:xfrm>
            <a:off x="4449928" y="1737360"/>
            <a:ext cx="32918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449928" y="1737360"/>
            <a:ext cx="73152" cy="1188720"/>
          </a:xfrm>
          <a:prstGeom prst="rect">
            <a:avLst/>
          </a:prstGeom>
          <a:solidFill>
            <a:srgbClr val="14B8A6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4248" y="2011680"/>
            <a:ext cx="457200" cy="4572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272888" y="19202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HARNESS</a:t>
            </a:r>
            <a:endParaRPr lang="en-US" sz="2000" dirty="0"/>
          </a:p>
        </p:txBody>
      </p:sp>
      <p:sp>
        <p:nvSpPr>
          <p:cNvPr id="14" name="Text 10"/>
          <p:cNvSpPr/>
          <p:nvPr/>
        </p:nvSpPr>
        <p:spPr>
          <a:xfrm>
            <a:off x="5272888" y="233172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工具 · 路由 · 上下文 · 反馈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7741768" y="1737360"/>
            <a:ext cx="777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4B8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=</a:t>
            </a:r>
            <a:endParaRPr lang="en-US" sz="3600" dirty="0"/>
          </a:p>
        </p:txBody>
      </p:sp>
      <p:sp>
        <p:nvSpPr>
          <p:cNvPr id="16" name="Shape 12"/>
          <p:cNvSpPr/>
          <p:nvPr/>
        </p:nvSpPr>
        <p:spPr>
          <a:xfrm>
            <a:off x="8519008" y="1737360"/>
            <a:ext cx="32918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519008" y="1737360"/>
            <a:ext cx="73152" cy="1188720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93328" y="2011680"/>
            <a:ext cx="457200" cy="45720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9341968" y="19202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PRODUCT</a:t>
            </a:r>
            <a:endParaRPr lang="en-US" sz="2000" dirty="0"/>
          </a:p>
        </p:txBody>
      </p:sp>
      <p:sp>
        <p:nvSpPr>
          <p:cNvPr id="20" name="Text 15"/>
          <p:cNvSpPr/>
          <p:nvPr/>
        </p:nvSpPr>
        <p:spPr>
          <a:xfrm>
            <a:off x="9341968" y="233172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用户实际能用上的东西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609448" y="3840480"/>
            <a:ext cx="2606040" cy="2194560"/>
          </a:xfrm>
          <a:prstGeom prst="rect">
            <a:avLst/>
          </a:prstGeom>
          <a:solidFill>
            <a:srgbClr val="0F1724"/>
          </a:solidFill>
          <a:ln/>
        </p:spPr>
      </p:sp>
      <p:sp>
        <p:nvSpPr>
          <p:cNvPr id="22" name="Shape 17"/>
          <p:cNvSpPr/>
          <p:nvPr/>
        </p:nvSpPr>
        <p:spPr>
          <a:xfrm>
            <a:off x="609448" y="3840480"/>
            <a:ext cx="2606040" cy="73152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23" name="Text 18"/>
          <p:cNvSpPr/>
          <p:nvPr/>
        </p:nvSpPr>
        <p:spPr>
          <a:xfrm>
            <a:off x="883768" y="40690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92528" y="4114800"/>
            <a:ext cx="502920" cy="50292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883768" y="466344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工具能力门控</a:t>
            </a:r>
            <a:endParaRPr lang="en-US" sz="1800" dirty="0"/>
          </a:p>
        </p:txBody>
      </p:sp>
      <p:sp>
        <p:nvSpPr>
          <p:cNvPr id="26" name="Text 20"/>
          <p:cNvSpPr/>
          <p:nvPr/>
        </p:nvSpPr>
        <p:spPr>
          <a:xfrm>
            <a:off x="883768" y="5212080"/>
            <a:ext cx="2057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谁能调工具,谁不能</a:t>
            </a:r>
            <a:endParaRPr lang="en-US" sz="1200" dirty="0"/>
          </a:p>
        </p:txBody>
      </p:sp>
      <p:sp>
        <p:nvSpPr>
          <p:cNvPr id="27" name="Shape 21"/>
          <p:cNvSpPr/>
          <p:nvPr/>
        </p:nvSpPr>
        <p:spPr>
          <a:xfrm>
            <a:off x="3398368" y="3840480"/>
            <a:ext cx="2606040" cy="2194560"/>
          </a:xfrm>
          <a:prstGeom prst="rect">
            <a:avLst/>
          </a:prstGeom>
          <a:solidFill>
            <a:srgbClr val="0F1724"/>
          </a:solidFill>
          <a:ln/>
        </p:spPr>
      </p:sp>
      <p:sp>
        <p:nvSpPr>
          <p:cNvPr id="28" name="Shape 22"/>
          <p:cNvSpPr/>
          <p:nvPr/>
        </p:nvSpPr>
        <p:spPr>
          <a:xfrm>
            <a:off x="3398368" y="3840480"/>
            <a:ext cx="2606040" cy="73152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29" name="Text 23"/>
          <p:cNvSpPr/>
          <p:nvPr/>
        </p:nvSpPr>
        <p:spPr>
          <a:xfrm>
            <a:off x="3672688" y="40690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81448" y="4114800"/>
            <a:ext cx="502920" cy="502920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3672688" y="466344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进程隔离</a:t>
            </a:r>
            <a:endParaRPr lang="en-US" sz="1800" dirty="0"/>
          </a:p>
        </p:txBody>
      </p:sp>
      <p:sp>
        <p:nvSpPr>
          <p:cNvPr id="32" name="Text 25"/>
          <p:cNvSpPr/>
          <p:nvPr/>
        </p:nvSpPr>
        <p:spPr>
          <a:xfrm>
            <a:off x="3672688" y="5212080"/>
            <a:ext cx="2057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/ 调度 / Worker 拆开</a:t>
            </a:r>
            <a:endParaRPr lang="en-US" sz="1200" dirty="0"/>
          </a:p>
        </p:txBody>
      </p:sp>
      <p:sp>
        <p:nvSpPr>
          <p:cNvPr id="33" name="Shape 26"/>
          <p:cNvSpPr/>
          <p:nvPr/>
        </p:nvSpPr>
        <p:spPr>
          <a:xfrm>
            <a:off x="6187288" y="3840480"/>
            <a:ext cx="2606040" cy="2194560"/>
          </a:xfrm>
          <a:prstGeom prst="rect">
            <a:avLst/>
          </a:prstGeom>
          <a:solidFill>
            <a:srgbClr val="0F1724"/>
          </a:solidFill>
          <a:ln/>
        </p:spPr>
      </p:sp>
      <p:sp>
        <p:nvSpPr>
          <p:cNvPr id="34" name="Shape 27"/>
          <p:cNvSpPr/>
          <p:nvPr/>
        </p:nvSpPr>
        <p:spPr>
          <a:xfrm>
            <a:off x="6187288" y="3840480"/>
            <a:ext cx="2606040" cy="73152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5" name="Text 28"/>
          <p:cNvSpPr/>
          <p:nvPr/>
        </p:nvSpPr>
        <p:spPr>
          <a:xfrm>
            <a:off x="6461608" y="40690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pic>
        <p:nvPicPr>
          <p:cNvPr id="3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70368" y="4114800"/>
            <a:ext cx="502920" cy="502920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6461608" y="466344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上下文切片</a:t>
            </a:r>
            <a:endParaRPr lang="en-US" sz="1800" dirty="0"/>
          </a:p>
        </p:txBody>
      </p:sp>
      <p:sp>
        <p:nvSpPr>
          <p:cNvPr id="38" name="Text 30"/>
          <p:cNvSpPr/>
          <p:nvPr/>
        </p:nvSpPr>
        <p:spPr>
          <a:xfrm>
            <a:off x="6461608" y="5212080"/>
            <a:ext cx="2057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按领域换提示词</a:t>
            </a:r>
            <a:endParaRPr lang="en-US" sz="1200" dirty="0"/>
          </a:p>
        </p:txBody>
      </p:sp>
      <p:sp>
        <p:nvSpPr>
          <p:cNvPr id="39" name="Shape 31"/>
          <p:cNvSpPr/>
          <p:nvPr/>
        </p:nvSpPr>
        <p:spPr>
          <a:xfrm>
            <a:off x="8976208" y="3840480"/>
            <a:ext cx="2606040" cy="2194560"/>
          </a:xfrm>
          <a:prstGeom prst="rect">
            <a:avLst/>
          </a:prstGeom>
          <a:solidFill>
            <a:srgbClr val="0F1724"/>
          </a:solidFill>
          <a:ln/>
        </p:spPr>
      </p:sp>
      <p:sp>
        <p:nvSpPr>
          <p:cNvPr id="40" name="Shape 32"/>
          <p:cNvSpPr/>
          <p:nvPr/>
        </p:nvSpPr>
        <p:spPr>
          <a:xfrm>
            <a:off x="8976208" y="3840480"/>
            <a:ext cx="2606040" cy="73152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41" name="Text 33"/>
          <p:cNvSpPr/>
          <p:nvPr/>
        </p:nvSpPr>
        <p:spPr>
          <a:xfrm>
            <a:off x="9250528" y="40690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pic>
        <p:nvPicPr>
          <p:cNvPr id="4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759288" y="4114800"/>
            <a:ext cx="502920" cy="502920"/>
          </a:xfrm>
          <a:prstGeom prst="rect">
            <a:avLst/>
          </a:prstGeom>
        </p:spPr>
      </p:pic>
      <p:sp>
        <p:nvSpPr>
          <p:cNvPr id="43" name="Text 34"/>
          <p:cNvSpPr/>
          <p:nvPr/>
        </p:nvSpPr>
        <p:spPr>
          <a:xfrm>
            <a:off x="9250528" y="466344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OODA 循环</a:t>
            </a:r>
            <a:endParaRPr lang="en-US" sz="1800" dirty="0"/>
          </a:p>
        </p:txBody>
      </p:sp>
      <p:sp>
        <p:nvSpPr>
          <p:cNvPr id="44" name="Text 35"/>
          <p:cNvSpPr/>
          <p:nvPr/>
        </p:nvSpPr>
        <p:spPr>
          <a:xfrm>
            <a:off x="9250528" y="5212080"/>
            <a:ext cx="2057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自观察、自诊断、不自改</a:t>
            </a:r>
            <a:endParaRPr lang="en-US" sz="1200" dirty="0"/>
          </a:p>
        </p:txBody>
      </p:sp>
      <p:sp>
        <p:nvSpPr>
          <p:cNvPr id="45" name="Shape 36"/>
          <p:cNvSpPr/>
          <p:nvPr/>
        </p:nvSpPr>
        <p:spPr>
          <a:xfrm>
            <a:off x="0" y="6537960"/>
            <a:ext cx="12191695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46" name="Text 37"/>
          <p:cNvSpPr/>
          <p:nvPr/>
        </p:nvSpPr>
        <p:spPr>
          <a:xfrm>
            <a:off x="457200" y="65653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Harness Engineering · alaude-desktop</a:t>
            </a:r>
            <a:endParaRPr lang="en-US" sz="900" dirty="0"/>
          </a:p>
        </p:txBody>
      </p:sp>
      <p:sp>
        <p:nvSpPr>
          <p:cNvPr id="47" name="Text 38"/>
          <p:cNvSpPr/>
          <p:nvPr/>
        </p:nvSpPr>
        <p:spPr>
          <a:xfrm>
            <a:off x="9905695" y="6565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00 · 开宗明义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502920"/>
            <a:ext cx="1005840" cy="41148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01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96012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工具能力门控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40080" y="17830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不是每个模型都配得上工具调用权</a:t>
            </a:r>
            <a:endParaRPr lang="en-US" sz="14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2560320"/>
            <a:ext cx="548640" cy="5486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80160" y="25603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问题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640080" y="3108960"/>
            <a:ext cx="5760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给小模型开放 run_command、write_file 听起来很酷,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直到它把 JSON 写歪、把路径拼错、把 rm 调去错的目录。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Gemma 3 1B、Llama 3.2 1B/3B、DeepSeek-R1 蒸馏版 —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这些模型无法可靠格式化工具调用,开放等于自找麻烦。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675120" y="2423160"/>
            <a:ext cx="4846320" cy="3840480"/>
          </a:xfrm>
          <a:prstGeom prst="rect">
            <a:avLst/>
          </a:prstGeom>
          <a:solidFill>
            <a:srgbClr val="0F1724"/>
          </a:solidFill>
          <a:ln/>
        </p:spPr>
      </p:sp>
      <p:sp>
        <p:nvSpPr>
          <p:cNvPr id="11" name="Shape 8"/>
          <p:cNvSpPr/>
          <p:nvPr/>
        </p:nvSpPr>
        <p:spPr>
          <a:xfrm>
            <a:off x="6675120" y="2423160"/>
            <a:ext cx="4846320" cy="3657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2" name="Text 9"/>
          <p:cNvSpPr/>
          <p:nvPr/>
        </p:nvSpPr>
        <p:spPr>
          <a:xfrm>
            <a:off x="6812280" y="2441448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electron/api-worker.js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6858000" y="2880360"/>
            <a:ext cx="45720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典型翻车现场:小模型 "调用" 工具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Assistant: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我来帮你读文件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Model: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{name: 'read_file, path: /etc…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^ JSON 未闭合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结果:工具调用解析失败,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UI 卡在 "思考中" 转圈,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用户点重试 → 再翻一遍。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0" y="6537960"/>
            <a:ext cx="12191695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5" name="Text 12"/>
          <p:cNvSpPr/>
          <p:nvPr/>
        </p:nvSpPr>
        <p:spPr>
          <a:xfrm>
            <a:off x="457200" y="65653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Harness Engineering · alaude-desktop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9905695" y="6565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工具能力门控 · 1/3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502920"/>
            <a:ext cx="1005840" cy="41148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01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96012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工具能力门控 — alaude 做法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40080" y="17830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模型 catalog 中标注 tools 布尔字段,路由层读取</a:t>
            </a:r>
            <a:endParaRPr lang="en-US" sz="1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468880"/>
          <a:ext cx="68580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1280160"/>
                <a:gridCol w="283464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模型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能调工具吗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理由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Claude / GPT-4 / o-series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开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旗舰级,JSON 结构可靠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Gemma 4 E4B / Qwen 3.6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开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中型本地模型,工具格式化稳定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Llama 3.3 70B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开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大本地模型 · 经实测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Gemma 3 1B / Llama 3.2 1B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 关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过小,会写歪 JSON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DeepSeek-R1 蒸馏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 关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蒸馏模型指令遵循弱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7772400" y="2468880"/>
            <a:ext cx="3840480" cy="3840480"/>
          </a:xfrm>
          <a:prstGeom prst="rect">
            <a:avLst/>
          </a:prstGeom>
          <a:solidFill>
            <a:srgbClr val="0F1724"/>
          </a:solidFill>
          <a:ln/>
        </p:spPr>
      </p:sp>
      <p:sp>
        <p:nvSpPr>
          <p:cNvPr id="9" name="Shape 6"/>
          <p:cNvSpPr/>
          <p:nvPr/>
        </p:nvSpPr>
        <p:spPr>
          <a:xfrm>
            <a:off x="7772400" y="2468880"/>
            <a:ext cx="3840480" cy="73152"/>
          </a:xfrm>
          <a:prstGeom prst="rect">
            <a:avLst/>
          </a:prstGeom>
          <a:solidFill>
            <a:srgbClr val="14B8A6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0" y="2697480"/>
            <a:ext cx="502920" cy="5029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8686800" y="274320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一条铁律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8046720" y="3383280"/>
            <a:ext cx="3474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能力 ≠ 权限。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给不胜任的模型开放工具,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不是赋能,是把用户暴露在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乱写文件的风险下。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Harness 的职责: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显式标注谁配得上,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谁只能老实聊天。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0" y="6537960"/>
            <a:ext cx="12191695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4" name="Text 10"/>
          <p:cNvSpPr/>
          <p:nvPr/>
        </p:nvSpPr>
        <p:spPr>
          <a:xfrm>
            <a:off x="457200" y="65653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Harness Engineering · alaude-desktop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9905695" y="6565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工具能力门控 · 2/3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502920"/>
            <a:ext cx="1005840" cy="41148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01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96012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工具能力门控 — 带走三条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40080" y="17830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Lessons Learned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2514600"/>
            <a:ext cx="1088136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334155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68680" y="2788920"/>
            <a:ext cx="594360" cy="594360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27889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691640" y="265176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把 "能不能调工具" 当配置,不是默认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691640" y="310896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alaude 在 model-catalog.js 给每个模型显式声明 tools: true/false。改策略只动数据,不碰代码路径。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3840480"/>
            <a:ext cx="1088136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334155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68680" y="4114800"/>
            <a:ext cx="594360" cy="594360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41148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691640" y="397764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Chat UI 要能降级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691640" y="443484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对关闭工具的模型,UI 不显示工具活动气泡,系统提示词也不暗示 "我能帮你改文件"—不然小模型会照着幻觉。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5166360"/>
            <a:ext cx="1088136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334155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68680" y="5440680"/>
            <a:ext cx="594360" cy="594360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19" name="Text 17"/>
          <p:cNvSpPr/>
          <p:nvPr/>
        </p:nvSpPr>
        <p:spPr>
          <a:xfrm>
            <a:off x="868680" y="54406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1691640" y="530352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能力矩阵要跑真实用户流量才能定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691640" y="576072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别信论文里的 benchmark。alaude 的门控名单,是在 OODA 日志里看到实际 retry / 错误率之后才固化下来的。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0" y="6537960"/>
            <a:ext cx="12191695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65653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Harness Engineering · alaude-desktop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9905695" y="6565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工具能力门控 · 3/3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502920"/>
            <a:ext cx="1005840" cy="41148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02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96012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进程隔离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40080" y="17830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一个卡死的 LLM 请求不能把 UI 拖下水</a:t>
            </a:r>
            <a:endParaRPr lang="en-US" sz="14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2560320"/>
            <a:ext cx="548640" cy="5486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80160" y="25603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真实踩坑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640080" y="3154680"/>
            <a:ext cx="5760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本想一切跑在 Electron 主进程里,干净利索。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结果:某些 VPN 的 DNS 解析器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跟 ELECTRON_RUN_AS_NODE 模式打架,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api.openai.com / api.anthropic.com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直接无法解析 — 用户看到的是 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"模型挂了"。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675120" y="2423160"/>
            <a:ext cx="4846320" cy="3931920"/>
          </a:xfrm>
          <a:prstGeom prst="rect">
            <a:avLst/>
          </a:prstGeom>
          <a:solidFill>
            <a:srgbClr val="0F1724"/>
          </a:solidFill>
          <a:ln/>
        </p:spPr>
      </p:sp>
      <p:sp>
        <p:nvSpPr>
          <p:cNvPr id="11" name="Shape 8"/>
          <p:cNvSpPr/>
          <p:nvPr/>
        </p:nvSpPr>
        <p:spPr>
          <a:xfrm>
            <a:off x="6675120" y="2423160"/>
            <a:ext cx="4846320" cy="3657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2" name="Text 9"/>
          <p:cNvSpPr/>
          <p:nvPr/>
        </p:nvSpPr>
        <p:spPr>
          <a:xfrm>
            <a:off x="6812280" y="2441448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单进程 — 故障传染路径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6858000" y="2880360"/>
            <a:ext cx="45720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00"/>
              </a:spcAft>
              <a:buNone/>
            </a:pPr>
            <a:r>
              <a:rPr lang="en-US" sz="11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 UI thread ]</a:t>
            </a:r>
            <a:endParaRPr lang="en-US" sz="11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│</a:t>
            </a:r>
            <a:endParaRPr lang="en-US" sz="11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▼  同进程调用</a:t>
            </a:r>
            <a:endParaRPr lang="en-US" sz="11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 fetch(api.openai.com) ]</a:t>
            </a:r>
            <a:endParaRPr lang="en-US" sz="11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│</a:t>
            </a:r>
            <a:endParaRPr lang="en-US" sz="11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▼</a:t>
            </a:r>
            <a:endParaRPr lang="en-US" sz="11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1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 DNS lookup ]  ← VPN 劫持</a:t>
            </a:r>
            <a:endParaRPr lang="en-US" sz="11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│</a:t>
            </a:r>
            <a:endParaRPr lang="en-US" sz="11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10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✗ hang 60s</a:t>
            </a:r>
            <a:endParaRPr lang="en-US" sz="1100" dirty="0"/>
          </a:p>
          <a:p>
            <a:pPr indent="0" marL="0">
              <a:spcAft>
                <a:spcPts val="100"/>
              </a:spcAft>
              <a:buNone/>
            </a:pPr>
            <a:endParaRPr lang="en-US" sz="11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10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UI 冻结,键盘输入无响应</a:t>
            </a:r>
            <a:endParaRPr lang="en-US" sz="11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10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用户只能强杀 app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0" y="6537960"/>
            <a:ext cx="12191695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5" name="Text 12"/>
          <p:cNvSpPr/>
          <p:nvPr/>
        </p:nvSpPr>
        <p:spPr>
          <a:xfrm>
            <a:off x="457200" y="65653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Harness Engineering · alaude-desktop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9905695" y="6565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进程隔离 · 1/3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502920"/>
            <a:ext cx="1005840" cy="41148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02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96012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进程隔离 — alaude 做法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40080" y="17830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三进程三职责 + DNS monkey-patch 兜底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2651760"/>
            <a:ext cx="34747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40080" y="2651760"/>
            <a:ext cx="3474720" cy="73152"/>
          </a:xfrm>
          <a:prstGeom prst="rect">
            <a:avLst/>
          </a:prstGeom>
          <a:solidFill>
            <a:srgbClr val="14B8A6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880360"/>
            <a:ext cx="457200" cy="4572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508760" y="283464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Renderer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1508760" y="32461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renderer/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914400" y="361188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· 用户事件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单文件 HTML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不碰网络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343400" y="2651760"/>
            <a:ext cx="34747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343400" y="2651760"/>
            <a:ext cx="3474720" cy="73152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7720" y="2880360"/>
            <a:ext cx="457200" cy="45720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212080" y="283464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Main</a:t>
            </a:r>
            <a:endParaRPr lang="en-US" sz="2000" dirty="0"/>
          </a:p>
        </p:txBody>
      </p:sp>
      <p:sp>
        <p:nvSpPr>
          <p:cNvPr id="17" name="Text 13"/>
          <p:cNvSpPr/>
          <p:nvPr/>
        </p:nvSpPr>
        <p:spPr>
          <a:xfrm>
            <a:off x="5212080" y="32461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electron/main.js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4617720" y="361188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IPC 路由 · 文件操作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 pull/list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凭据、OAuth PKCE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8046720" y="2651760"/>
            <a:ext cx="34747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8046720" y="2651760"/>
            <a:ext cx="3474720" cy="73152"/>
          </a:xfrm>
          <a:prstGeom prst="rect">
            <a:avLst/>
          </a:prstGeom>
          <a:solidFill>
            <a:srgbClr val="8B5CF6"/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0" y="2880360"/>
            <a:ext cx="457200" cy="45720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8915400" y="283464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API Worker</a:t>
            </a:r>
            <a:endParaRPr lang="en-US" sz="2000" dirty="0"/>
          </a:p>
        </p:txBody>
      </p:sp>
      <p:sp>
        <p:nvSpPr>
          <p:cNvPr id="23" name="Text 18"/>
          <p:cNvSpPr/>
          <p:nvPr/>
        </p:nvSpPr>
        <p:spPr>
          <a:xfrm>
            <a:off x="8915400" y="32461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electron/api-worker.js</a:t>
            </a:r>
            <a:endParaRPr lang="en-US" sz="1000" dirty="0"/>
          </a:p>
        </p:txBody>
      </p:sp>
      <p:sp>
        <p:nvSpPr>
          <p:cNvPr id="24" name="Text 19"/>
          <p:cNvSpPr/>
          <p:nvPr/>
        </p:nvSpPr>
        <p:spPr>
          <a:xfrm>
            <a:off x="8321040" y="361188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请求 · 工具执行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DNS monkey-patch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独立 Node 进程</a:t>
            </a:r>
            <a:endParaRPr lang="en-US" sz="1100" dirty="0"/>
          </a:p>
        </p:txBody>
      </p:sp>
      <p:sp>
        <p:nvSpPr>
          <p:cNvPr id="25" name="Text 20"/>
          <p:cNvSpPr/>
          <p:nvPr/>
        </p:nvSpPr>
        <p:spPr>
          <a:xfrm>
            <a:off x="4160520" y="333756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4B8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↔</a:t>
            </a:r>
            <a:endParaRPr lang="en-US" sz="2200" dirty="0"/>
          </a:p>
        </p:txBody>
      </p:sp>
      <p:sp>
        <p:nvSpPr>
          <p:cNvPr id="26" name="Text 21"/>
          <p:cNvSpPr/>
          <p:nvPr/>
        </p:nvSpPr>
        <p:spPr>
          <a:xfrm>
            <a:off x="7863840" y="333756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4B8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↔</a:t>
            </a:r>
            <a:endParaRPr lang="en-US" sz="2200" dirty="0"/>
          </a:p>
        </p:txBody>
      </p:sp>
      <p:sp>
        <p:nvSpPr>
          <p:cNvPr id="27" name="Shape 22"/>
          <p:cNvSpPr/>
          <p:nvPr/>
        </p:nvSpPr>
        <p:spPr>
          <a:xfrm>
            <a:off x="640080" y="4754880"/>
            <a:ext cx="10881360" cy="1371600"/>
          </a:xfrm>
          <a:prstGeom prst="rect">
            <a:avLst/>
          </a:prstGeom>
          <a:solidFill>
            <a:srgbClr val="0F1724"/>
          </a:solidFill>
          <a:ln/>
        </p:spPr>
      </p:sp>
      <p:sp>
        <p:nvSpPr>
          <p:cNvPr id="28" name="Shape 23"/>
          <p:cNvSpPr/>
          <p:nvPr/>
        </p:nvSpPr>
        <p:spPr>
          <a:xfrm>
            <a:off x="640080" y="4754880"/>
            <a:ext cx="73152" cy="137160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29" name="Text 24"/>
          <p:cNvSpPr/>
          <p:nvPr/>
        </p:nvSpPr>
        <p:spPr>
          <a:xfrm>
            <a:off x="914400" y="489204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关键修补:api-worker.js 里给 dns.lookup 打了 monkey-patch —</a:t>
            </a:r>
            <a:endParaRPr lang="en-US" sz="1400" dirty="0"/>
          </a:p>
        </p:txBody>
      </p:sp>
      <p:sp>
        <p:nvSpPr>
          <p:cNvPr id="30" name="Text 25"/>
          <p:cNvSpPr/>
          <p:nvPr/>
        </p:nvSpPr>
        <p:spPr>
          <a:xfrm>
            <a:off x="914400" y="525780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系统解析器失败时,自动 fallback 到 </a:t>
            </a:r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8.8.8.8 / 1.1.1.1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于是 UI 进程不会被网络故障拖住,LLM 调用也能在 VPN 下打通。</a:t>
            </a:r>
            <a:endParaRPr lang="en-US" sz="1200" dirty="0"/>
          </a:p>
        </p:txBody>
      </p:sp>
      <p:sp>
        <p:nvSpPr>
          <p:cNvPr id="31" name="Shape 26"/>
          <p:cNvSpPr/>
          <p:nvPr/>
        </p:nvSpPr>
        <p:spPr>
          <a:xfrm>
            <a:off x="0" y="6537960"/>
            <a:ext cx="12191695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32" name="Text 27"/>
          <p:cNvSpPr/>
          <p:nvPr/>
        </p:nvSpPr>
        <p:spPr>
          <a:xfrm>
            <a:off x="457200" y="65653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Harness Engineering · alaude-desktop</a:t>
            </a:r>
            <a:endParaRPr lang="en-US" sz="900" dirty="0"/>
          </a:p>
        </p:txBody>
      </p:sp>
      <p:sp>
        <p:nvSpPr>
          <p:cNvPr id="33" name="Text 28"/>
          <p:cNvSpPr/>
          <p:nvPr/>
        </p:nvSpPr>
        <p:spPr>
          <a:xfrm>
            <a:off x="9905695" y="6565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进程隔离 · 2/3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502920"/>
            <a:ext cx="1005840" cy="41148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02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96012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进程隔离 — 带走三条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40080" y="17830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Lessons Learned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2514600"/>
            <a:ext cx="1088136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334155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68680" y="2788920"/>
            <a:ext cx="594360" cy="594360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27889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691640" y="265176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UI 永远不和网络共住一个进程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691640" y="310896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用户的焦点切换、键盘输入、动画帧率,比任何一个 API 调用都重要。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3840480"/>
            <a:ext cx="1088136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334155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68680" y="4114800"/>
            <a:ext cx="594360" cy="594360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41148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691640" y="397764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把兜底逻辑放在它真正用得上的层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691640" y="443484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DNS monkey-patch 只在 worker 里装一次 —— 不污染 main,不污染 renderer。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5166360"/>
            <a:ext cx="1088136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334155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68680" y="5440680"/>
            <a:ext cx="594360" cy="594360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19" name="Text 17"/>
          <p:cNvSpPr/>
          <p:nvPr/>
        </p:nvSpPr>
        <p:spPr>
          <a:xfrm>
            <a:off x="868680" y="54406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1691640" y="530352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隔离反而简化了调试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691640" y="576072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 挂了就重启 worker,日志独立。过去一个 Electron 崩溃要猜十个地方。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0" y="6537960"/>
            <a:ext cx="12191695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65653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Harness Engineering · alaude-desktop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9905695" y="6565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进程隔离 · 3/3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502920"/>
            <a:ext cx="1005840" cy="41148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03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96012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上下文切片 (Spaces)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40080" y="17830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一个万能 system prompt 等于没有 system prompt</a:t>
            </a:r>
            <a:endParaRPr lang="en-US" sz="14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2560320"/>
            <a:ext cx="548640" cy="5486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80160" y="25603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问题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640080" y="3154680"/>
            <a:ext cx="5760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用户今天要看化验单,明天要对账,后天要改 NDA。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一个 "你是万能助手" 的提示词,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既不会在化验单里主动提红旗值,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也不会在合同里挑出对赌条款 —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因为它不知道这次该关注什么。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675120" y="2423160"/>
            <a:ext cx="4846320" cy="3931920"/>
          </a:xfrm>
          <a:prstGeom prst="rect">
            <a:avLst/>
          </a:prstGeom>
          <a:solidFill>
            <a:srgbClr val="0F1724"/>
          </a:solidFill>
          <a:ln/>
        </p:spPr>
      </p:sp>
      <p:sp>
        <p:nvSpPr>
          <p:cNvPr id="11" name="Shape 8"/>
          <p:cNvSpPr/>
          <p:nvPr/>
        </p:nvSpPr>
        <p:spPr>
          <a:xfrm>
            <a:off x="6675120" y="2423160"/>
            <a:ext cx="4846320" cy="3657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2" name="Text 9"/>
          <p:cNvSpPr/>
          <p:nvPr/>
        </p:nvSpPr>
        <p:spPr>
          <a:xfrm>
            <a:off x="6812280" y="2441448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同一个提示词 · 三个场景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6858000" y="2880360"/>
            <a:ext cx="45720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00"/>
              </a:spcAft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用户: ALT 84, AST 76 正常吗?</a:t>
            </a:r>
            <a:endParaRPr lang="en-US" sz="11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1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AI: 这些看起来是数字 🙂</a:t>
            </a:r>
            <a:endParaRPr lang="en-US" sz="11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100" i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(没提 ALT 偏高的红旗)</a:t>
            </a:r>
            <a:endParaRPr lang="en-US" sz="1100" dirty="0"/>
          </a:p>
          <a:p>
            <a:pPr indent="0" marL="0">
              <a:spcAft>
                <a:spcPts val="100"/>
              </a:spcAft>
              <a:buNone/>
            </a:pPr>
            <a:endParaRPr lang="en-US" sz="11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用户: 看下这份 NDA 有问题吗?</a:t>
            </a:r>
            <a:endParaRPr lang="en-US" sz="11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1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AI: 文档看起来挺完整 🙂</a:t>
            </a:r>
            <a:endParaRPr lang="en-US" sz="11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100" i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(没提 2 年禁业条款)</a:t>
            </a:r>
            <a:endParaRPr lang="en-US" sz="1100" dirty="0"/>
          </a:p>
          <a:p>
            <a:pPr indent="0" marL="0">
              <a:spcAft>
                <a:spcPts val="100"/>
              </a:spcAft>
              <a:buNone/>
            </a:pPr>
            <a:endParaRPr lang="en-US" sz="11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用户: Q3 现金流怎么样?</a:t>
            </a:r>
            <a:endParaRPr lang="en-US" sz="11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1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AI: 我需要更多上下文…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0" y="6537960"/>
            <a:ext cx="12191695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5" name="Text 12"/>
          <p:cNvSpPr/>
          <p:nvPr/>
        </p:nvSpPr>
        <p:spPr>
          <a:xfrm>
            <a:off x="457200" y="65653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Harness Engineering · alaude-desktop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9905695" y="6565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Spaces · 1/3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502920"/>
            <a:ext cx="1005840" cy="41148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03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96012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Spaces — alaude 做法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40080" y="17830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个领域 Space + 自定义 · 每个都带独立 system prompt 和快速动作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2514600"/>
            <a:ext cx="269748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334155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40080" y="2514600"/>
            <a:ext cx="73152" cy="1600200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274320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General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14400" y="320040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默认 · 通用助手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502152" y="2514600"/>
            <a:ext cx="269748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334155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502152" y="2514600"/>
            <a:ext cx="73152" cy="160020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3" name="Text 11"/>
          <p:cNvSpPr/>
          <p:nvPr/>
        </p:nvSpPr>
        <p:spPr>
          <a:xfrm>
            <a:off x="3776472" y="274320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Health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776472" y="320040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化验分析 · 药物相互作用 · PHQ-9/GAD-7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364224" y="2514600"/>
            <a:ext cx="269748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334155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364224" y="2514600"/>
            <a:ext cx="73152" cy="160020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7" name="Text 15"/>
          <p:cNvSpPr/>
          <p:nvPr/>
        </p:nvSpPr>
        <p:spPr>
          <a:xfrm>
            <a:off x="6638544" y="274320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Finance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638544" y="320040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预算 · 发票 · P&amp;L · 现金流预测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226296" y="2514600"/>
            <a:ext cx="269748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334155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226296" y="2514600"/>
            <a:ext cx="73152" cy="16002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1" name="Text 19"/>
          <p:cNvSpPr/>
          <p:nvPr/>
        </p:nvSpPr>
        <p:spPr>
          <a:xfrm>
            <a:off x="9500616" y="274320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Real Estate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9500616" y="320040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房源分析 · MLS · 投资 ROI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" y="4279392"/>
            <a:ext cx="269748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334155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40080" y="4279392"/>
            <a:ext cx="73152" cy="160020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5" name="Text 23"/>
          <p:cNvSpPr/>
          <p:nvPr/>
        </p:nvSpPr>
        <p:spPr>
          <a:xfrm>
            <a:off x="914400" y="4507992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Legal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914400" y="4965192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合同审查 · NDA 起草 · 合规核查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502152" y="4279392"/>
            <a:ext cx="269748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334155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502152" y="4279392"/>
            <a:ext cx="73152" cy="160020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29" name="Text 27"/>
          <p:cNvSpPr/>
          <p:nvPr/>
        </p:nvSpPr>
        <p:spPr>
          <a:xfrm>
            <a:off x="3776472" y="4507992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Education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3776472" y="4965192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教案 · 测验 · 评分 · 学习指南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364224" y="4279392"/>
            <a:ext cx="269748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334155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364224" y="4279392"/>
            <a:ext cx="73152" cy="1600200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33" name="Text 31"/>
          <p:cNvSpPr/>
          <p:nvPr/>
        </p:nvSpPr>
        <p:spPr>
          <a:xfrm>
            <a:off x="6638544" y="4507992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Marketing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6638544" y="4965192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社交文案 · 邮件 · SEO · 广告语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9226296" y="4279392"/>
            <a:ext cx="2697480" cy="1600200"/>
          </a:xfrm>
          <a:prstGeom prst="rect">
            <a:avLst/>
          </a:prstGeom>
          <a:solidFill>
            <a:srgbClr val="0F1724"/>
          </a:solidFill>
          <a:ln/>
        </p:spPr>
      </p:sp>
      <p:sp>
        <p:nvSpPr>
          <p:cNvPr id="36" name="Text 34"/>
          <p:cNvSpPr/>
          <p:nvPr/>
        </p:nvSpPr>
        <p:spPr>
          <a:xfrm>
            <a:off x="9226296" y="4279392"/>
            <a:ext cx="269748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B8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 自定义 Space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9226296" y="4988052"/>
            <a:ext cx="269748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独立提示词 + 快捷动作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40080" y="5989320"/>
            <a:ext cx="10881360" cy="502920"/>
          </a:xfrm>
          <a:prstGeom prst="rect">
            <a:avLst/>
          </a:prstGeom>
          <a:solidFill>
            <a:srgbClr val="F8FAFC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77240" y="603504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切 Space = 切 system prompt + 切 quick-action + 切工具集。</a:t>
            </a:r>
            <a:pPr indent="0" marL="0">
              <a:buNone/>
            </a:pPr>
            <a:r>
              <a:rPr lang="en-US" sz="12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不是换话术,是换人设。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0" y="6537960"/>
            <a:ext cx="12191695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41" name="Text 39"/>
          <p:cNvSpPr/>
          <p:nvPr/>
        </p:nvSpPr>
        <p:spPr>
          <a:xfrm>
            <a:off x="457200" y="65653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Harness Engineering · alaude-desktop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9905695" y="6565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Spaces · 2/3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502920"/>
            <a:ext cx="1005840" cy="41148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03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96012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Spaces — 带走三条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40080" y="17830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Lessons Learned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2514600"/>
            <a:ext cx="1088136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334155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68680" y="2788920"/>
            <a:ext cx="594360" cy="594360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27889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691640" y="265176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提示词不是一条,是一组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691640" y="310896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alaude 的 spaces.js 把 7 套预置 + 用户自定义存储为结构化数据,能随版本升级一起演化。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3840480"/>
            <a:ext cx="1088136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334155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68680" y="4114800"/>
            <a:ext cx="594360" cy="594360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41148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691640" y="397764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每个 Space 都要配"快速动作"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691640" y="443484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给你 "分析化验单",Legal 给你 "检查 NDA"—— 降低 "我该问什么" 的用户负担。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5166360"/>
            <a:ext cx="1088136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334155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68680" y="5440680"/>
            <a:ext cx="594360" cy="594360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19" name="Text 17"/>
          <p:cNvSpPr/>
          <p:nvPr/>
        </p:nvSpPr>
        <p:spPr>
          <a:xfrm>
            <a:off x="868680" y="54406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1691640" y="530352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让用户自己造 Space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691640" y="576072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内置的永远覆盖不全。自定义 Space 把长尾场景交还给用户,harness 只提供结构。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0" y="6537960"/>
            <a:ext cx="12191695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65653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Harness Engineering · alaude-desktop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9905695" y="6565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Spaces · 3/3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502920"/>
            <a:ext cx="1005840" cy="41148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04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96012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OODA 循环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40080" y="17830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Harness 会退化,而没人知道哪里出了问题</a:t>
            </a:r>
            <a:endParaRPr lang="en-US" sz="14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2560320"/>
            <a:ext cx="548640" cy="5486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80160" y="25603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问题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640080" y="3154680"/>
            <a:ext cx="57607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开发者上线后最致命的盲点: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哪个 provider 经常超时?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哪个 Space × 模型组合被反复重试?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哪个快速动作其实从没人点?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用户是复制了答案,还是默默放弃了?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没有信号 → 没有迭代方向 → harness 慢慢烂掉。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675120" y="2423160"/>
            <a:ext cx="4846320" cy="3931920"/>
          </a:xfrm>
          <a:prstGeom prst="rect">
            <a:avLst/>
          </a:prstGeom>
          <a:solidFill>
            <a:srgbClr val="0F1724"/>
          </a:solidFill>
          <a:ln/>
        </p:spPr>
      </p:sp>
      <p:sp>
        <p:nvSpPr>
          <p:cNvPr id="11" name="Text 8"/>
          <p:cNvSpPr/>
          <p:nvPr/>
        </p:nvSpPr>
        <p:spPr>
          <a:xfrm>
            <a:off x="6858000" y="25603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看不见的信号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6858000" y="31089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retry (60s 内同 prompt)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10561320" y="3182112"/>
            <a:ext cx="822960" cy="347472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4" name="Text 11"/>
          <p:cNvSpPr/>
          <p:nvPr/>
        </p:nvSpPr>
        <p:spPr>
          <a:xfrm>
            <a:off x="10561320" y="3182112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−2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6858000" y="367588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abandoned (30s 无后续)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10561320" y="3749040"/>
            <a:ext cx="822960" cy="347472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7" name="Text 14"/>
          <p:cNvSpPr/>
          <p:nvPr/>
        </p:nvSpPr>
        <p:spPr>
          <a:xfrm>
            <a:off x="10561320" y="3749040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−1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6858000" y="4242816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error (HTTP / tool fail)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10561320" y="4315968"/>
            <a:ext cx="822960" cy="347472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0" name="Text 17"/>
          <p:cNvSpPr/>
          <p:nvPr/>
        </p:nvSpPr>
        <p:spPr>
          <a:xfrm>
            <a:off x="10561320" y="4315968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−1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6858000" y="4809744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clean success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10561320" y="4882896"/>
            <a:ext cx="822960" cy="347472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23" name="Text 20"/>
          <p:cNvSpPr/>
          <p:nvPr/>
        </p:nvSpPr>
        <p:spPr>
          <a:xfrm>
            <a:off x="10561320" y="4882896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+1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6858000" y="537667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response copied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10561320" y="5449824"/>
            <a:ext cx="822960" cy="347472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26" name="Text 23"/>
          <p:cNvSpPr/>
          <p:nvPr/>
        </p:nvSpPr>
        <p:spPr>
          <a:xfrm>
            <a:off x="10561320" y="5449824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+1</a:t>
            </a:r>
            <a:endParaRPr lang="en-US" sz="1300" dirty="0"/>
          </a:p>
        </p:txBody>
      </p:sp>
      <p:sp>
        <p:nvSpPr>
          <p:cNvPr id="27" name="Shape 24"/>
          <p:cNvSpPr/>
          <p:nvPr/>
        </p:nvSpPr>
        <p:spPr>
          <a:xfrm>
            <a:off x="0" y="6537960"/>
            <a:ext cx="12191695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28" name="Text 25"/>
          <p:cNvSpPr/>
          <p:nvPr/>
        </p:nvSpPr>
        <p:spPr>
          <a:xfrm>
            <a:off x="457200" y="65653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Harness Engineering · alaude-desktop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9905695" y="6565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OODA 循环 · 1/3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502920"/>
            <a:ext cx="1005840" cy="41148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04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96012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OODA — alaude 做法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40080" y="17830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 → Orient → Decide → Act · 每 10 个 outcome 跑一次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82016" y="2514600"/>
            <a:ext cx="2606040" cy="3291840"/>
          </a:xfrm>
          <a:prstGeom prst="rect">
            <a:avLst/>
          </a:prstGeom>
          <a:solidFill>
            <a:srgbClr val="0F1724"/>
          </a:solidFill>
          <a:ln/>
        </p:spPr>
      </p:sp>
      <p:sp>
        <p:nvSpPr>
          <p:cNvPr id="8" name="Text 6"/>
          <p:cNvSpPr/>
          <p:nvPr/>
        </p:nvSpPr>
        <p:spPr>
          <a:xfrm>
            <a:off x="582016" y="2514600"/>
            <a:ext cx="2606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</a:t>
            </a:r>
            <a:endParaRPr lang="en-US" sz="90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10716" y="3017520"/>
            <a:ext cx="548640" cy="54864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82016" y="416052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4B8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Observe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764896" y="4663440"/>
            <a:ext cx="2240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 NDJSON 事件</a:t>
            </a:r>
            <a:endParaRPr lang="en-US" sz="11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~/.claude/alaude-events.ndjson</a:t>
            </a:r>
            <a:endParaRPr lang="en-US" sz="11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从不阻塞主流程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3050896" y="393192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4B8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▶</a:t>
            </a:r>
            <a:endParaRPr lang="en-US" sz="2200" dirty="0"/>
          </a:p>
        </p:txBody>
      </p:sp>
      <p:sp>
        <p:nvSpPr>
          <p:cNvPr id="13" name="Shape 10"/>
          <p:cNvSpPr/>
          <p:nvPr/>
        </p:nvSpPr>
        <p:spPr>
          <a:xfrm>
            <a:off x="3389224" y="2514600"/>
            <a:ext cx="2606040" cy="3291840"/>
          </a:xfrm>
          <a:prstGeom prst="rect">
            <a:avLst/>
          </a:prstGeom>
          <a:solidFill>
            <a:srgbClr val="0F1724"/>
          </a:solidFill>
          <a:ln/>
        </p:spPr>
      </p:sp>
      <p:sp>
        <p:nvSpPr>
          <p:cNvPr id="14" name="Text 11"/>
          <p:cNvSpPr/>
          <p:nvPr/>
        </p:nvSpPr>
        <p:spPr>
          <a:xfrm>
            <a:off x="3389224" y="2514600"/>
            <a:ext cx="2606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</a:t>
            </a:r>
            <a:endParaRPr lang="en-US" sz="9000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7924" y="3017520"/>
            <a:ext cx="548640" cy="54864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389224" y="416052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4B8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Orient</a:t>
            </a:r>
            <a:endParaRPr lang="en-US" sz="2000" dirty="0"/>
          </a:p>
        </p:txBody>
      </p:sp>
      <p:sp>
        <p:nvSpPr>
          <p:cNvPr id="17" name="Text 13"/>
          <p:cNvSpPr/>
          <p:nvPr/>
        </p:nvSpPr>
        <p:spPr>
          <a:xfrm>
            <a:off x="3572104" y="4663440"/>
            <a:ext cx="2240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 10 outcome 触发</a:t>
            </a:r>
            <a:endParaRPr lang="en-US" sz="11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按 provider / space / model</a:t>
            </a:r>
            <a:endParaRPr lang="en-US" sz="11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算复合 health score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5858104" y="393192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4B8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▶</a:t>
            </a:r>
            <a:endParaRPr lang="en-US" sz="2200" dirty="0"/>
          </a:p>
        </p:txBody>
      </p:sp>
      <p:sp>
        <p:nvSpPr>
          <p:cNvPr id="19" name="Shape 15"/>
          <p:cNvSpPr/>
          <p:nvPr/>
        </p:nvSpPr>
        <p:spPr>
          <a:xfrm>
            <a:off x="6196432" y="2514600"/>
            <a:ext cx="2606040" cy="3291840"/>
          </a:xfrm>
          <a:prstGeom prst="rect">
            <a:avLst/>
          </a:prstGeom>
          <a:solidFill>
            <a:srgbClr val="0F1724"/>
          </a:solidFill>
          <a:ln/>
        </p:spPr>
      </p:sp>
      <p:sp>
        <p:nvSpPr>
          <p:cNvPr id="20" name="Text 16"/>
          <p:cNvSpPr/>
          <p:nvPr/>
        </p:nvSpPr>
        <p:spPr>
          <a:xfrm>
            <a:off x="6196432" y="2514600"/>
            <a:ext cx="2606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</a:t>
            </a:r>
            <a:endParaRPr lang="en-US" sz="9000" dirty="0"/>
          </a:p>
        </p:txBody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5132" y="3017520"/>
            <a:ext cx="548640" cy="54864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196432" y="416052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4B8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Decide</a:t>
            </a:r>
            <a:endParaRPr lang="en-US" sz="2000" dirty="0"/>
          </a:p>
        </p:txBody>
      </p:sp>
      <p:sp>
        <p:nvSpPr>
          <p:cNvPr id="23" name="Text 18"/>
          <p:cNvSpPr/>
          <p:nvPr/>
        </p:nvSpPr>
        <p:spPr>
          <a:xfrm>
            <a:off x="6379312" y="4663440"/>
            <a:ext cx="2240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条优先级规则</a:t>
            </a:r>
            <a:endParaRPr lang="en-US" sz="11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一批只产 1 条 proposal</a:t>
            </a:r>
            <a:endParaRPr lang="en-US" sz="11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从高危到优化排序</a:t>
            </a:r>
            <a:endParaRPr lang="en-US" sz="1100" dirty="0"/>
          </a:p>
        </p:txBody>
      </p:sp>
      <p:sp>
        <p:nvSpPr>
          <p:cNvPr id="24" name="Text 19"/>
          <p:cNvSpPr/>
          <p:nvPr/>
        </p:nvSpPr>
        <p:spPr>
          <a:xfrm>
            <a:off x="8665312" y="393192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4B8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▶</a:t>
            </a:r>
            <a:endParaRPr lang="en-US" sz="2200" dirty="0"/>
          </a:p>
        </p:txBody>
      </p:sp>
      <p:sp>
        <p:nvSpPr>
          <p:cNvPr id="25" name="Shape 20"/>
          <p:cNvSpPr/>
          <p:nvPr/>
        </p:nvSpPr>
        <p:spPr>
          <a:xfrm>
            <a:off x="9003640" y="2514600"/>
            <a:ext cx="2606040" cy="3291840"/>
          </a:xfrm>
          <a:prstGeom prst="rect">
            <a:avLst/>
          </a:prstGeom>
          <a:solidFill>
            <a:srgbClr val="0F1724"/>
          </a:solidFill>
          <a:ln/>
        </p:spPr>
      </p:sp>
      <p:sp>
        <p:nvSpPr>
          <p:cNvPr id="26" name="Text 21"/>
          <p:cNvSpPr/>
          <p:nvPr/>
        </p:nvSpPr>
        <p:spPr>
          <a:xfrm>
            <a:off x="9003640" y="2514600"/>
            <a:ext cx="2606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</a:t>
            </a:r>
            <a:endParaRPr lang="en-US" sz="9000" dirty="0"/>
          </a:p>
        </p:txBody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2340" y="3017520"/>
            <a:ext cx="548640" cy="548640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9003640" y="416052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4B8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</a:t>
            </a:r>
            <a:endParaRPr lang="en-US" sz="2000" dirty="0"/>
          </a:p>
        </p:txBody>
      </p:sp>
      <p:sp>
        <p:nvSpPr>
          <p:cNvPr id="29" name="Text 23"/>
          <p:cNvSpPr/>
          <p:nvPr/>
        </p:nvSpPr>
        <p:spPr>
          <a:xfrm>
            <a:off x="9186520" y="4663440"/>
            <a:ext cx="2240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写入 ux-proposals.md</a:t>
            </a:r>
            <a:endParaRPr lang="en-US" sz="11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人审后才生效</a:t>
            </a:r>
            <a:endParaRPr lang="en-US" sz="11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永不自动改 UX 文案</a:t>
            </a:r>
            <a:endParaRPr lang="en-US" sz="1100" dirty="0"/>
          </a:p>
        </p:txBody>
      </p:sp>
      <p:sp>
        <p:nvSpPr>
          <p:cNvPr id="30" name="Shape 24"/>
          <p:cNvSpPr/>
          <p:nvPr/>
        </p:nvSpPr>
        <p:spPr>
          <a:xfrm>
            <a:off x="640080" y="5989320"/>
            <a:ext cx="10881360" cy="502920"/>
          </a:xfrm>
          <a:prstGeom prst="rect">
            <a:avLst/>
          </a:prstGeom>
          <a:solidFill>
            <a:srgbClr val="FFFBE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6071616"/>
            <a:ext cx="320040" cy="320040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1188720" y="6035040"/>
            <a:ext cx="1024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铁律: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proposal 落地到 markdown,人读完再决定改不改。LLM 不允许自动篡改 UX 文案。</a:t>
            </a:r>
            <a:endParaRPr lang="en-US" sz="1200" dirty="0"/>
          </a:p>
        </p:txBody>
      </p:sp>
      <p:sp>
        <p:nvSpPr>
          <p:cNvPr id="33" name="Shape 26"/>
          <p:cNvSpPr/>
          <p:nvPr/>
        </p:nvSpPr>
        <p:spPr>
          <a:xfrm>
            <a:off x="0" y="6537960"/>
            <a:ext cx="12191695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34" name="Text 27"/>
          <p:cNvSpPr/>
          <p:nvPr/>
        </p:nvSpPr>
        <p:spPr>
          <a:xfrm>
            <a:off x="457200" y="65653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Harness Engineering · alaude-desktop</a:t>
            </a:r>
            <a:endParaRPr lang="en-US" sz="900" dirty="0"/>
          </a:p>
        </p:txBody>
      </p:sp>
      <p:sp>
        <p:nvSpPr>
          <p:cNvPr id="35" name="Text 28"/>
          <p:cNvSpPr/>
          <p:nvPr/>
        </p:nvSpPr>
        <p:spPr>
          <a:xfrm>
            <a:off x="9905695" y="6565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OODA 循环 · 2/3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502920"/>
            <a:ext cx="1005840" cy="41148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04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96012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OODA — 六条 diagnose 规则 + 带走三条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40080" y="17830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Lessons Learned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2423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spc="1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priority-ordered rules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85800" y="2816352"/>
            <a:ext cx="347472" cy="347472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28163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143000" y="278892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 错误率过高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85800" y="3319272"/>
            <a:ext cx="347472" cy="347472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33192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143000" y="329184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Space×Model 重试率高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85800" y="3822192"/>
            <a:ext cx="347472" cy="347472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" y="38221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143000" y="379476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Quick-action 放弃率高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85800" y="4325112"/>
            <a:ext cx="347472" cy="347472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" y="43251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43000" y="429768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 延迟异常 / 模型切换频繁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85800" y="4828032"/>
            <a:ext cx="347472" cy="347472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21" name="Text 19"/>
          <p:cNvSpPr/>
          <p:nvPr/>
        </p:nvSpPr>
        <p:spPr>
          <a:xfrm>
            <a:off x="685800" y="48280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143000" y="480060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Quick-action 从不被用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85800" y="5330952"/>
            <a:ext cx="347472" cy="347472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24" name="Text 22"/>
          <p:cNvSpPr/>
          <p:nvPr/>
        </p:nvSpPr>
        <p:spPr>
          <a:xfrm>
            <a:off x="685800" y="53309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143000" y="530352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健康回退 (确认系统稳定)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400800" y="2514600"/>
            <a:ext cx="5120640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334155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400800" y="2514600"/>
            <a:ext cx="73152" cy="109728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28" name="Text 26"/>
          <p:cNvSpPr/>
          <p:nvPr/>
        </p:nvSpPr>
        <p:spPr>
          <a:xfrm>
            <a:off x="6675120" y="265176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先看,再判,最后才动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675120" y="306324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别先写修复,先把事件落地。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400800" y="3794760"/>
            <a:ext cx="5120640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334155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400800" y="3794760"/>
            <a:ext cx="73152" cy="109728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2" name="Text 30"/>
          <p:cNvSpPr/>
          <p:nvPr/>
        </p:nvSpPr>
        <p:spPr>
          <a:xfrm>
            <a:off x="6675120" y="393192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优先级排序代替多条建议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675120" y="434340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一批只给 1 条 proposal,人不会淹没。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400800" y="5074920"/>
            <a:ext cx="5120640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334155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400800" y="5074920"/>
            <a:ext cx="73152" cy="109728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6" name="Text 34"/>
          <p:cNvSpPr/>
          <p:nvPr/>
        </p:nvSpPr>
        <p:spPr>
          <a:xfrm>
            <a:off x="6675120" y="521208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LLM 不审自己的 UX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6675120" y="562356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把 action 卡在人审那一关。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0" y="6537960"/>
            <a:ext cx="12191695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39" name="Text 37"/>
          <p:cNvSpPr/>
          <p:nvPr/>
        </p:nvSpPr>
        <p:spPr>
          <a:xfrm>
            <a:off x="457200" y="65653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Harness Engineering · alaude-desktop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9905695" y="6565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OODA 循环 · 3/3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7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54864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3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Harness Engineering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31520" y="100584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四条铁律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731520" y="237744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spc="200" kern="0" dirty="0">
                <a:solidFill>
                  <a:srgbClr val="14B8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1920240" y="2450592"/>
            <a:ext cx="18288" cy="457200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7" name="Text 5"/>
          <p:cNvSpPr/>
          <p:nvPr/>
        </p:nvSpPr>
        <p:spPr>
          <a:xfrm>
            <a:off x="2103120" y="2377440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能力 ≠ 权限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583680" y="242316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不是每个模型都配得上工具调用。显式标注。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329184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spc="200" kern="0" dirty="0">
                <a:solidFill>
                  <a:srgbClr val="14B8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1920240" y="3364992"/>
            <a:ext cx="18288" cy="457200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1" name="Text 9"/>
          <p:cNvSpPr/>
          <p:nvPr/>
        </p:nvSpPr>
        <p:spPr>
          <a:xfrm>
            <a:off x="2103120" y="3291840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UI 不和网络共进程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6583680" y="333756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 里装兜底,UI 永不冻结。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31520" y="420624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spc="200" kern="0" dirty="0">
                <a:solidFill>
                  <a:srgbClr val="14B8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600" dirty="0"/>
          </a:p>
        </p:txBody>
      </p:sp>
      <p:sp>
        <p:nvSpPr>
          <p:cNvPr id="14" name="Shape 12"/>
          <p:cNvSpPr/>
          <p:nvPr/>
        </p:nvSpPr>
        <p:spPr>
          <a:xfrm>
            <a:off x="1920240" y="4279392"/>
            <a:ext cx="18288" cy="457200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5" name="Text 13"/>
          <p:cNvSpPr/>
          <p:nvPr/>
        </p:nvSpPr>
        <p:spPr>
          <a:xfrm>
            <a:off x="2103120" y="4206240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换 Space = 换人设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6583680" y="425196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prompt 是一组,不是一条。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31520" y="512064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spc="200" kern="0" dirty="0">
                <a:solidFill>
                  <a:srgbClr val="14B8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600" dirty="0"/>
          </a:p>
        </p:txBody>
      </p:sp>
      <p:sp>
        <p:nvSpPr>
          <p:cNvPr id="18" name="Shape 16"/>
          <p:cNvSpPr/>
          <p:nvPr/>
        </p:nvSpPr>
        <p:spPr>
          <a:xfrm>
            <a:off x="1920240" y="5193792"/>
            <a:ext cx="18288" cy="457200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9" name="Text 17"/>
          <p:cNvSpPr/>
          <p:nvPr/>
        </p:nvSpPr>
        <p:spPr>
          <a:xfrm>
            <a:off x="2103120" y="5120640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先观察,人审才动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6583680" y="516636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OODA 产 proposal,LLM 不动 UX。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31520" y="59893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模型换代如此之快,harness 才是你能积累的工程资产。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31520" y="635508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github.com/alsayadi/alaude-desktop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Harness Engineering — alaude-desktop 实战</dc:title>
  <dc:subject>PptxGenJS Presentation</dc:subject>
  <dc:creator>alaude</dc:creator>
  <cp:lastModifiedBy>alaude</cp:lastModifiedBy>
  <cp:revision>1</cp:revision>
  <dcterms:created xsi:type="dcterms:W3CDTF">2026-04-22T02:39:07Z</dcterms:created>
  <dcterms:modified xsi:type="dcterms:W3CDTF">2026-04-22T02:39:07Z</dcterms:modified>
</cp:coreProperties>
</file>